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65E3B-00F2-4DA2-ACB4-1397F9A3F4EB}"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3ED7A-43A8-4EC6-8755-5BACE38B3A99}"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83ED7A-43A8-4EC6-8755-5BACE38B3A99}"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78F4A22-9E0E-4872-BC21-33DCAACD1EF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78F4A22-9E0E-4872-BC21-33DCAACD1EF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8F4A22-9E0E-4872-BC21-33DCAACD1EF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F4A22-9E0E-4872-BC21-33DCAACD1EF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8F4A22-9E0E-4872-BC21-33DCAACD1EF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8F4A22-9E0E-4872-BC21-33DCAACD1EF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8F4A22-9E0E-4872-BC21-33DCAACD1EF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D97A3-5C3E-495B-B594-803747DECFB8}"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78F4A22-9E0E-4872-BC21-33DCAACD1EFA}" type="datetimeFigureOut">
              <a:rPr lang="en-IN" smtClean="0"/>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F7D97A3-5C3E-495B-B594-803747DECFB8}"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710268"/>
            <a:ext cx="7766936" cy="2878510"/>
          </a:xfrm>
        </p:spPr>
        <p:txBody>
          <a:bodyPr/>
          <a:lstStyle/>
          <a:p>
            <a:r>
              <a:rPr lang="en-US" b="1" dirty="0" err="1"/>
              <a:t>AutoSage</a:t>
            </a:r>
            <a:r>
              <a:rPr lang="en-US" b="1" dirty="0"/>
              <a:t> App Using Gemini Flash</a:t>
            </a:r>
            <a:br>
              <a:rPr lang="en-US" b="1" dirty="0"/>
            </a:br>
            <a:endParaRPr lang="en-IN" dirty="0"/>
          </a:p>
        </p:txBody>
      </p:sp>
      <p:sp>
        <p:nvSpPr>
          <p:cNvPr id="3" name="Subtitle 2"/>
          <p:cNvSpPr>
            <a:spLocks noGrp="1"/>
          </p:cNvSpPr>
          <p:nvPr>
            <p:ph type="subTitle" idx="1"/>
          </p:nvPr>
        </p:nvSpPr>
        <p:spPr>
          <a:xfrm>
            <a:off x="1506855" y="4337050"/>
            <a:ext cx="7886700" cy="1647825"/>
          </a:xfrm>
        </p:spPr>
        <p:txBody>
          <a:bodyPr/>
          <a:lstStyle/>
          <a:p>
            <a:r>
              <a:rPr lang="en-US" altLang="en-IN" dirty="0"/>
              <a:t>Presented by</a:t>
            </a:r>
            <a:endParaRPr lang="en-US" altLang="en-IN" dirty="0"/>
          </a:p>
          <a:p>
            <a:r>
              <a:rPr lang="en-US" altLang="en-IN" dirty="0"/>
              <a:t>Gudi Chandana - 23BFA04L13(ECE)</a:t>
            </a:r>
            <a:endParaRPr lang="en-US" altLang="en-IN" dirty="0"/>
          </a:p>
          <a:p>
            <a:r>
              <a:rPr lang="en-US" altLang="en-IN" dirty="0"/>
              <a:t>P Keerthi    - 23BFAO4L30(ECE)</a:t>
            </a:r>
            <a:endParaRPr lang="en-US" altLang="en-IN" dirty="0"/>
          </a:p>
          <a:p>
            <a:r>
              <a:rPr lang="en-US" altLang="en-IN" dirty="0"/>
              <a:t>                   Mallela Silpa    -  23BFA04L23(ECE)   </a:t>
            </a:r>
            <a:endParaRPr lang="en-US" alt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endParaRPr lang="en-IN" dirty="0"/>
          </a:p>
        </p:txBody>
      </p:sp>
      <p:sp>
        <p:nvSpPr>
          <p:cNvPr id="3" name="Content Placeholder 2"/>
          <p:cNvSpPr>
            <a:spLocks noGrp="1"/>
          </p:cNvSpPr>
          <p:nvPr>
            <p:ph idx="1"/>
          </p:nvPr>
        </p:nvSpPr>
        <p:spPr>
          <a:xfrm>
            <a:off x="677334" y="1493241"/>
            <a:ext cx="8596668" cy="4548122"/>
          </a:xfrm>
        </p:spPr>
        <p:txBody>
          <a:bodyPr>
            <a:normAutofit/>
          </a:bodyPr>
          <a:lstStyle/>
          <a:p>
            <a:pPr marL="0" indent="0">
              <a:buNone/>
            </a:pPr>
            <a:r>
              <a:rPr lang="en-US" dirty="0" err="1"/>
              <a:t>AutoSage</a:t>
            </a:r>
            <a:r>
              <a:rPr lang="en-US" dirty="0"/>
              <a:t> is an AI-powered vehicle assistant developed using Gemini Flash technology.</a:t>
            </a:r>
            <a:endParaRPr lang="en-US" dirty="0"/>
          </a:p>
          <a:p>
            <a:pPr marL="0" indent="0">
              <a:buNone/>
            </a:pPr>
            <a:r>
              <a:rPr lang="en-US" dirty="0"/>
              <a:t>The application helps users explore, compare, and select two-wheelers and four-wheelers easily.</a:t>
            </a:r>
            <a:endParaRPr lang="en-US" dirty="0"/>
          </a:p>
          <a:p>
            <a:pPr marL="0" indent="0">
              <a:buNone/>
            </a:pPr>
            <a:r>
              <a:rPr lang="en-US" dirty="0"/>
              <a:t>It provides:</a:t>
            </a:r>
            <a:endParaRPr lang="en-US" dirty="0"/>
          </a:p>
          <a:p>
            <a:r>
              <a:rPr lang="en-US" dirty="0"/>
              <a:t>Detailed vehicle specifications</a:t>
            </a:r>
            <a:endParaRPr lang="en-US" dirty="0"/>
          </a:p>
          <a:p>
            <a:r>
              <a:rPr lang="en-US" dirty="0"/>
              <a:t>Price and feature comparisons</a:t>
            </a:r>
            <a:endParaRPr lang="en-US" dirty="0"/>
          </a:p>
          <a:p>
            <a:r>
              <a:rPr lang="en-US" dirty="0"/>
              <a:t>Real-time updates and reviews</a:t>
            </a:r>
            <a:endParaRPr lang="en-US" dirty="0"/>
          </a:p>
          <a:p>
            <a:r>
              <a:rPr lang="en-US" dirty="0"/>
              <a:t>Maintenance guidance</a:t>
            </a:r>
            <a:endParaRPr lang="en-US" dirty="0"/>
          </a:p>
          <a:p>
            <a:r>
              <a:rPr lang="en-US" dirty="0"/>
              <a:t>Eco-friendly vehicle suggestions</a:t>
            </a:r>
            <a:endParaRPr lang="en-US" dirty="0"/>
          </a:p>
          <a:p>
            <a:pPr marL="0" indent="0">
              <a:buNone/>
            </a:pPr>
            <a:r>
              <a:rPr lang="en-US" dirty="0"/>
              <a:t>By integrating AI, </a:t>
            </a:r>
            <a:r>
              <a:rPr lang="en-US" dirty="0" err="1"/>
              <a:t>AutoSage</a:t>
            </a:r>
            <a:r>
              <a:rPr lang="en-US" dirty="0"/>
              <a:t> simplifies vehicle decision-making and enhances the overall user experience.</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677334" y="1392573"/>
            <a:ext cx="8596668" cy="4648790"/>
          </a:xfrm>
        </p:spPr>
        <p:txBody>
          <a:bodyPr>
            <a:normAutofit/>
          </a:bodyPr>
          <a:lstStyle/>
          <a:p>
            <a:pPr marL="0" indent="0">
              <a:buNone/>
            </a:pPr>
            <a:r>
              <a:rPr lang="en-US" dirty="0"/>
              <a:t>In today’s automotive market, customers face difficulty in selecting the right vehicle due to the vast number of options, complex technical specifications, and rapidly changing trends.</a:t>
            </a:r>
            <a:endParaRPr lang="en-US" dirty="0"/>
          </a:p>
          <a:p>
            <a:pPr marL="0" indent="0">
              <a:buNone/>
            </a:pPr>
            <a:r>
              <a:rPr lang="en-US" dirty="0"/>
              <a:t>Many users face difficulties while:</a:t>
            </a:r>
            <a:endParaRPr lang="en-US" dirty="0"/>
          </a:p>
          <a:p>
            <a:r>
              <a:rPr lang="en-US" dirty="0"/>
              <a:t>Difficulty in comparing multiple vehicle models</a:t>
            </a:r>
            <a:endParaRPr lang="en-US" dirty="0"/>
          </a:p>
          <a:p>
            <a:r>
              <a:rPr lang="en-US" dirty="0"/>
              <a:t>Lack of clear understanding of technical features</a:t>
            </a:r>
            <a:endParaRPr lang="en-US" dirty="0"/>
          </a:p>
          <a:p>
            <a:r>
              <a:rPr lang="en-US" dirty="0"/>
              <a:t>Confusion in selecting vehicles within budget</a:t>
            </a:r>
            <a:endParaRPr lang="en-US" dirty="0"/>
          </a:p>
          <a:p>
            <a:r>
              <a:rPr lang="en-US" dirty="0"/>
              <a:t>Limited access to proper maintenance guidance</a:t>
            </a:r>
            <a:endParaRPr lang="en-US" dirty="0"/>
          </a:p>
          <a:p>
            <a:r>
              <a:rPr lang="en-US" dirty="0"/>
              <a:t>Insufficient awareness of eco-friendly vehicle options</a:t>
            </a:r>
            <a:endParaRPr lang="en-US" dirty="0"/>
          </a:p>
          <a:p>
            <a:pPr marL="0" indent="0">
              <a:buNone/>
            </a:pPr>
            <a:r>
              <a:rPr lang="en-US" dirty="0"/>
              <a:t>There is a need for a smart AI-based assistant that provides accurate and updated vehicle information.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a:t>
            </a:r>
            <a:endParaRPr lang="en-IN" dirty="0"/>
          </a:p>
        </p:txBody>
      </p:sp>
      <p:sp>
        <p:nvSpPr>
          <p:cNvPr id="3" name="Content Placeholder 2"/>
          <p:cNvSpPr>
            <a:spLocks noGrp="1"/>
          </p:cNvSpPr>
          <p:nvPr>
            <p:ph idx="1"/>
          </p:nvPr>
        </p:nvSpPr>
        <p:spPr>
          <a:xfrm>
            <a:off x="677334" y="1493240"/>
            <a:ext cx="8596668" cy="4548123"/>
          </a:xfrm>
        </p:spPr>
        <p:txBody>
          <a:bodyPr/>
          <a:lstStyle/>
          <a:p>
            <a:pPr marL="0" indent="0">
              <a:buNone/>
            </a:pPr>
            <a:r>
              <a:rPr lang="en-IN" dirty="0"/>
              <a:t>We propose </a:t>
            </a:r>
            <a:r>
              <a:rPr lang="en-IN" dirty="0" err="1"/>
              <a:t>AutoSage</a:t>
            </a:r>
            <a:r>
              <a:rPr lang="en-IN" dirty="0"/>
              <a:t> App using Gemini Flash, which:</a:t>
            </a:r>
            <a:endParaRPr lang="en-IN" dirty="0"/>
          </a:p>
          <a:p>
            <a:r>
              <a:rPr lang="en-IN" dirty="0"/>
              <a:t>Uses Google Gemini Flash API</a:t>
            </a:r>
            <a:endParaRPr lang="en-IN" dirty="0"/>
          </a:p>
          <a:p>
            <a:r>
              <a:rPr lang="en-IN" dirty="0"/>
              <a:t>Provides intelligent responses</a:t>
            </a:r>
            <a:endParaRPr lang="en-IN" dirty="0"/>
          </a:p>
          <a:p>
            <a:r>
              <a:rPr lang="en-IN" dirty="0"/>
              <a:t>Gives vehicle comparison</a:t>
            </a:r>
            <a:endParaRPr lang="en-IN" dirty="0"/>
          </a:p>
          <a:p>
            <a:r>
              <a:rPr lang="en-IN" dirty="0"/>
              <a:t>Offers maintenance suggestions</a:t>
            </a:r>
            <a:endParaRPr lang="en-IN" dirty="0"/>
          </a:p>
          <a:p>
            <a:r>
              <a:rPr lang="en-IN" dirty="0"/>
              <a:t>Suggests eco-friendly vehicle options</a:t>
            </a:r>
            <a:endParaRPr lang="en-IN" dirty="0"/>
          </a:p>
          <a:p>
            <a:pPr marL="0" indent="0">
              <a:buNone/>
            </a:pPr>
            <a:r>
              <a:rPr lang="en-IN" dirty="0"/>
              <a:t>It acts as a smart vehicle assistant.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Content Placeholder 2"/>
          <p:cNvSpPr>
            <a:spLocks noGrp="1"/>
          </p:cNvSpPr>
          <p:nvPr>
            <p:ph idx="1"/>
          </p:nvPr>
        </p:nvSpPr>
        <p:spPr>
          <a:xfrm>
            <a:off x="677334" y="1442907"/>
            <a:ext cx="8596668" cy="4598456"/>
          </a:xfrm>
        </p:spPr>
        <p:txBody>
          <a:bodyPr/>
          <a:lstStyle/>
          <a:p>
            <a:pPr>
              <a:buFont typeface="Wingdings" panose="05000000000000000000" pitchFamily="2" charset="2"/>
              <a:buChar char="q"/>
            </a:pPr>
            <a:r>
              <a:rPr lang="en-US" dirty="0"/>
              <a:t>To develop an AI-powered vehicle expert system</a:t>
            </a:r>
            <a:endParaRPr lang="en-US" dirty="0"/>
          </a:p>
          <a:p>
            <a:pPr>
              <a:buFont typeface="Wingdings" panose="05000000000000000000" pitchFamily="2" charset="2"/>
              <a:buChar char="q"/>
            </a:pPr>
            <a:r>
              <a:rPr lang="en-US" dirty="0"/>
              <a:t>To integrate Gemini Flash API</a:t>
            </a:r>
            <a:endParaRPr lang="en-US" dirty="0"/>
          </a:p>
          <a:p>
            <a:pPr>
              <a:buFont typeface="Wingdings" panose="05000000000000000000" pitchFamily="2" charset="2"/>
              <a:buChar char="q"/>
            </a:pPr>
            <a:r>
              <a:rPr lang="en-US" dirty="0"/>
              <a:t>To provide real-time vehicle information</a:t>
            </a:r>
            <a:endParaRPr lang="en-US" dirty="0"/>
          </a:p>
          <a:p>
            <a:pPr>
              <a:buFont typeface="Wingdings" panose="05000000000000000000" pitchFamily="2" charset="2"/>
              <a:buChar char="q"/>
            </a:pPr>
            <a:r>
              <a:rPr lang="en-US" dirty="0"/>
              <a:t>To help users select vehicles based on requirements</a:t>
            </a:r>
            <a:endParaRPr lang="en-US" dirty="0"/>
          </a:p>
          <a:p>
            <a:pPr>
              <a:buFont typeface="Wingdings" panose="05000000000000000000" pitchFamily="2" charset="2"/>
              <a:buChar char="q"/>
            </a:pPr>
            <a:r>
              <a:rPr lang="en-US" dirty="0"/>
              <a:t>To provide seasonal maintenance tips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Technologies Used</a:t>
            </a:r>
            <a:endParaRPr lang="en-IN" dirty="0"/>
          </a:p>
        </p:txBody>
      </p:sp>
      <p:sp>
        <p:nvSpPr>
          <p:cNvPr id="3" name="Content Placeholder 2"/>
          <p:cNvSpPr>
            <a:spLocks noGrp="1"/>
          </p:cNvSpPr>
          <p:nvPr>
            <p:ph idx="1"/>
          </p:nvPr>
        </p:nvSpPr>
        <p:spPr>
          <a:xfrm>
            <a:off x="677334" y="1560353"/>
            <a:ext cx="8596668" cy="4481010"/>
          </a:xfrm>
        </p:spPr>
        <p:txBody>
          <a:bodyPr/>
          <a:lstStyle/>
          <a:p>
            <a:pPr>
              <a:buFont typeface="+mj-lt"/>
              <a:buAutoNum type="arabicPeriod"/>
            </a:pPr>
            <a:r>
              <a:rPr lang="en-US" b="1" dirty="0"/>
              <a:t>Python Programming </a:t>
            </a:r>
            <a:r>
              <a:rPr lang="en-US" dirty="0"/>
              <a:t>– Core backend language used for handling logic, API integration, and data processing.</a:t>
            </a:r>
            <a:endParaRPr lang="en-US" dirty="0"/>
          </a:p>
          <a:p>
            <a:pPr>
              <a:buFont typeface="+mj-lt"/>
              <a:buAutoNum type="arabicPeriod"/>
            </a:pPr>
            <a:r>
              <a:rPr lang="en-US" b="1" dirty="0"/>
              <a:t>Google Gemini Flash API </a:t>
            </a:r>
            <a:r>
              <a:rPr lang="en-US" dirty="0"/>
              <a:t>– AI model used to generate intelligent, real-time vehicle recommendations and responses.</a:t>
            </a:r>
            <a:endParaRPr lang="en-US" dirty="0"/>
          </a:p>
          <a:p>
            <a:pPr>
              <a:buFont typeface="+mj-lt"/>
              <a:buAutoNum type="arabicPeriod"/>
            </a:pPr>
            <a:r>
              <a:rPr lang="en-US" b="1" dirty="0"/>
              <a:t>Google API Key Authentication </a:t>
            </a:r>
            <a:r>
              <a:rPr lang="en-US" dirty="0"/>
              <a:t>– Ensures secure and authorized communication with the Gemini model.</a:t>
            </a:r>
            <a:endParaRPr lang="en-US" dirty="0"/>
          </a:p>
          <a:p>
            <a:pPr>
              <a:buFont typeface="+mj-lt"/>
              <a:buAutoNum type="arabicPeriod"/>
            </a:pPr>
            <a:r>
              <a:rPr lang="en-US" b="1" dirty="0"/>
              <a:t>Flask / </a:t>
            </a:r>
            <a:r>
              <a:rPr lang="en-US" b="1" dirty="0" err="1"/>
              <a:t>Streamlit</a:t>
            </a:r>
            <a:r>
              <a:rPr lang="en-US" b="1" dirty="0"/>
              <a:t> Web Framework </a:t>
            </a:r>
            <a:r>
              <a:rPr lang="en-US" dirty="0"/>
              <a:t>– Connects frontend and backend, handling user requests efficiently.</a:t>
            </a:r>
            <a:endParaRPr lang="en-US" dirty="0"/>
          </a:p>
          <a:p>
            <a:pPr>
              <a:buFont typeface="+mj-lt"/>
              <a:buAutoNum type="arabicPeriod"/>
            </a:pPr>
            <a:r>
              <a:rPr lang="en-US" b="1" dirty="0"/>
              <a:t>HTML &amp; CSS </a:t>
            </a:r>
            <a:r>
              <a:rPr lang="en-US" dirty="0"/>
              <a:t>– Used to design a clean, user-friendly, and interactive interface.</a:t>
            </a:r>
            <a:endParaRPr lang="en-US" dirty="0"/>
          </a:p>
          <a:p>
            <a:pPr>
              <a:buFont typeface="+mj-lt"/>
              <a:buAutoNum type="arabicPeriod"/>
            </a:pPr>
            <a:r>
              <a:rPr lang="en-US" b="1" dirty="0"/>
              <a:t>REST API Integration </a:t>
            </a:r>
            <a:r>
              <a:rPr lang="en-US" dirty="0"/>
              <a:t>– Enables smooth data exchange between the application and the AI model.</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endParaRPr lang="en-IN" dirty="0"/>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879134" y="1388677"/>
            <a:ext cx="6233020" cy="20403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01817" y="3724279"/>
            <a:ext cx="6098796" cy="21189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t>User enters query in UI</a:t>
            </a:r>
            <a:endParaRPr lang="en-IN" dirty="0"/>
          </a:p>
          <a:p>
            <a:pPr marL="285750" indent="-285750">
              <a:lnSpc>
                <a:spcPct val="150000"/>
              </a:lnSpc>
              <a:buFont typeface="Arial" panose="020B0604020202020204" pitchFamily="34" charset="0"/>
              <a:buChar char="•"/>
            </a:pPr>
            <a:r>
              <a:rPr lang="en-IN" dirty="0"/>
              <a:t>Input sent to backend using API key</a:t>
            </a:r>
            <a:endParaRPr lang="en-IN" dirty="0"/>
          </a:p>
          <a:p>
            <a:pPr marL="285750" indent="-285750">
              <a:lnSpc>
                <a:spcPct val="150000"/>
              </a:lnSpc>
              <a:buFont typeface="Arial" panose="020B0604020202020204" pitchFamily="34" charset="0"/>
              <a:buChar char="•"/>
            </a:pPr>
            <a:r>
              <a:rPr lang="en-IN" dirty="0"/>
              <a:t>Request forwarded to Gemini Flash model</a:t>
            </a:r>
            <a:endParaRPr lang="en-IN" dirty="0"/>
          </a:p>
          <a:p>
            <a:pPr marL="285750" indent="-285750">
              <a:lnSpc>
                <a:spcPct val="150000"/>
              </a:lnSpc>
              <a:buFont typeface="Arial" panose="020B0604020202020204" pitchFamily="34" charset="0"/>
              <a:buChar char="•"/>
            </a:pPr>
            <a:r>
              <a:rPr lang="en-IN" dirty="0"/>
              <a:t>Model processes input</a:t>
            </a:r>
            <a:endParaRPr lang="en-IN" dirty="0"/>
          </a:p>
          <a:p>
            <a:pPr marL="285750" indent="-285750">
              <a:lnSpc>
                <a:spcPct val="150000"/>
              </a:lnSpc>
              <a:buFont typeface="Arial" panose="020B0604020202020204" pitchFamily="34" charset="0"/>
              <a:buChar char="•"/>
            </a:pPr>
            <a:r>
              <a:rPr lang="en-IN" dirty="0"/>
              <a:t>Output returned to frontend</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Workflow</a:t>
            </a:r>
            <a:endParaRPr lang="en-IN" dirty="0"/>
          </a:p>
        </p:txBody>
      </p:sp>
      <p:sp>
        <p:nvSpPr>
          <p:cNvPr id="3" name="Content Placeholder 2"/>
          <p:cNvSpPr>
            <a:spLocks noGrp="1"/>
          </p:cNvSpPr>
          <p:nvPr>
            <p:ph idx="1"/>
          </p:nvPr>
        </p:nvSpPr>
        <p:spPr>
          <a:xfrm>
            <a:off x="677334" y="1468073"/>
            <a:ext cx="8596668" cy="4573289"/>
          </a:xfrm>
        </p:spPr>
        <p:txBody>
          <a:bodyPr>
            <a:normAutofit/>
          </a:bodyPr>
          <a:lstStyle/>
          <a:p>
            <a:pPr marL="0" indent="0">
              <a:buNone/>
            </a:pPr>
            <a:r>
              <a:rPr lang="en-US" dirty="0"/>
              <a:t>The application follows a systematic workflow to generate accurate vehicle recommendations.</a:t>
            </a:r>
            <a:endParaRPr lang="en-US" dirty="0"/>
          </a:p>
          <a:p>
            <a:pPr marL="0" indent="0">
              <a:buNone/>
            </a:pPr>
            <a:r>
              <a:rPr lang="en-US" dirty="0"/>
              <a:t>Step-by-Step Process:</a:t>
            </a:r>
            <a:endParaRPr lang="en-US" dirty="0"/>
          </a:p>
          <a:p>
            <a:r>
              <a:rPr lang="en-US" dirty="0"/>
              <a:t>User submits query (e.g., compare bikes under ₹1 lakh)</a:t>
            </a:r>
            <a:endParaRPr lang="en-US" dirty="0"/>
          </a:p>
          <a:p>
            <a:r>
              <a:rPr lang="en-US" dirty="0"/>
              <a:t>Input is sent to backend server</a:t>
            </a:r>
            <a:endParaRPr lang="en-US" dirty="0"/>
          </a:p>
          <a:p>
            <a:r>
              <a:rPr lang="en-US" dirty="0"/>
              <a:t>Backend formats the prompt</a:t>
            </a:r>
            <a:endParaRPr lang="en-US" dirty="0"/>
          </a:p>
          <a:p>
            <a:r>
              <a:rPr lang="en-US" dirty="0"/>
              <a:t>API call is made to Gemini Flash</a:t>
            </a:r>
            <a:endParaRPr lang="en-US" dirty="0"/>
          </a:p>
          <a:p>
            <a:r>
              <a:rPr lang="en-US" dirty="0"/>
              <a:t>AI model processes the request</a:t>
            </a:r>
            <a:endParaRPr lang="en-US" dirty="0"/>
          </a:p>
          <a:p>
            <a:r>
              <a:rPr lang="en-US" dirty="0"/>
              <a:t>Response is generated</a:t>
            </a:r>
            <a:endParaRPr lang="en-US" dirty="0"/>
          </a:p>
          <a:p>
            <a:r>
              <a:rPr lang="en-US" dirty="0"/>
              <a:t>Output is displayed in structured format</a:t>
            </a:r>
            <a:endParaRPr lang="en-US" dirty="0"/>
          </a:p>
          <a:p>
            <a:pPr marL="0" indent="0">
              <a:buNone/>
            </a:pPr>
            <a:r>
              <a:rPr lang="en-US" dirty="0"/>
              <a:t>This workflow ensures efficiency and reliability.</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Required Specification</a:t>
            </a:r>
            <a:endParaRPr lang="en-IN" dirty="0"/>
          </a:p>
        </p:txBody>
      </p:sp>
      <p:sp>
        <p:nvSpPr>
          <p:cNvPr id="3" name="Content Placeholder 2"/>
          <p:cNvSpPr>
            <a:spLocks noGrp="1"/>
          </p:cNvSpPr>
          <p:nvPr>
            <p:ph idx="1"/>
          </p:nvPr>
        </p:nvSpPr>
        <p:spPr>
          <a:xfrm>
            <a:off x="677334" y="1568741"/>
            <a:ext cx="8596668" cy="4472621"/>
          </a:xfrm>
        </p:spPr>
        <p:txBody>
          <a:bodyPr/>
          <a:lstStyle/>
          <a:p>
            <a:pPr marL="0" indent="0">
              <a:buNone/>
            </a:pPr>
            <a:r>
              <a:rPr lang="en-IN" dirty="0"/>
              <a:t>Software Requirements:</a:t>
            </a:r>
            <a:endParaRPr lang="en-IN" dirty="0"/>
          </a:p>
          <a:p>
            <a:pPr>
              <a:buFont typeface="Wingdings" panose="05000000000000000000" pitchFamily="2" charset="2"/>
              <a:buChar char="§"/>
            </a:pPr>
            <a:r>
              <a:rPr lang="en-IN" dirty="0"/>
              <a:t>Python 3.x</a:t>
            </a:r>
            <a:endParaRPr lang="en-IN" dirty="0"/>
          </a:p>
          <a:p>
            <a:pPr>
              <a:buFont typeface="Wingdings" panose="05000000000000000000" pitchFamily="2" charset="2"/>
              <a:buChar char="§"/>
            </a:pPr>
            <a:r>
              <a:rPr lang="en-IN" dirty="0"/>
              <a:t>Required libraries (google-</a:t>
            </a:r>
            <a:r>
              <a:rPr lang="en-IN" dirty="0" err="1"/>
              <a:t>generativeai</a:t>
            </a:r>
            <a:r>
              <a:rPr lang="en-IN" dirty="0"/>
              <a:t>, flask/</a:t>
            </a:r>
            <a:r>
              <a:rPr lang="en-IN" dirty="0" err="1"/>
              <a:t>streamlit</a:t>
            </a:r>
            <a:r>
              <a:rPr lang="en-IN" dirty="0"/>
              <a:t>)</a:t>
            </a:r>
            <a:endParaRPr lang="en-IN" dirty="0"/>
          </a:p>
          <a:p>
            <a:pPr>
              <a:buFont typeface="Wingdings" panose="05000000000000000000" pitchFamily="2" charset="2"/>
              <a:buChar char="§"/>
            </a:pPr>
            <a:r>
              <a:rPr lang="en-IN" dirty="0"/>
              <a:t>Google API Key</a:t>
            </a:r>
            <a:endParaRPr lang="en-IN" dirty="0"/>
          </a:p>
          <a:p>
            <a:pPr>
              <a:buFont typeface="Wingdings" panose="05000000000000000000" pitchFamily="2" charset="2"/>
              <a:buChar char="§"/>
            </a:pPr>
            <a:r>
              <a:rPr lang="en-IN" dirty="0"/>
              <a:t>Internet connection</a:t>
            </a:r>
            <a:endParaRPr lang="en-IN" dirty="0"/>
          </a:p>
          <a:p>
            <a:pPr marL="0" indent="0">
              <a:buNone/>
            </a:pPr>
            <a:r>
              <a:rPr lang="en-IN" dirty="0"/>
              <a:t> Hardware Requirements:</a:t>
            </a:r>
            <a:endParaRPr lang="en-IN" dirty="0"/>
          </a:p>
          <a:p>
            <a:pPr>
              <a:buFont typeface="Wingdings" panose="05000000000000000000" pitchFamily="2" charset="2"/>
              <a:buChar char="§"/>
            </a:pPr>
            <a:r>
              <a:rPr lang="en-IN" dirty="0"/>
              <a:t>Laptop or PC</a:t>
            </a:r>
            <a:endParaRPr lang="en-IN" dirty="0"/>
          </a:p>
          <a:p>
            <a:pPr>
              <a:buFont typeface="Wingdings" panose="05000000000000000000" pitchFamily="2" charset="2"/>
              <a:buChar char="§"/>
            </a:pPr>
            <a:r>
              <a:rPr lang="en-IN" dirty="0"/>
              <a:t>Minimum 4GB RAM</a:t>
            </a:r>
            <a:endParaRPr lang="en-IN" dirty="0"/>
          </a:p>
          <a:p>
            <a:pPr>
              <a:buFont typeface="Wingdings" panose="05000000000000000000" pitchFamily="2" charset="2"/>
              <a:buChar char="§"/>
            </a:pPr>
            <a:r>
              <a:rPr lang="en-IN" dirty="0"/>
              <a:t>Stable internet connection</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API Initialization &amp; Configuration</a:t>
            </a:r>
            <a:endParaRPr lang="en-IN" dirty="0"/>
          </a:p>
        </p:txBody>
      </p:sp>
      <p:sp>
        <p:nvSpPr>
          <p:cNvPr id="3" name="Content Placeholder 2"/>
          <p:cNvSpPr>
            <a:spLocks noGrp="1"/>
          </p:cNvSpPr>
          <p:nvPr>
            <p:ph idx="1"/>
          </p:nvPr>
        </p:nvSpPr>
        <p:spPr>
          <a:xfrm>
            <a:off x="677334" y="1510019"/>
            <a:ext cx="8596668" cy="4531344"/>
          </a:xfrm>
        </p:spPr>
        <p:txBody>
          <a:bodyPr>
            <a:normAutofit fontScale="92500" lnSpcReduction="20000"/>
          </a:bodyPr>
          <a:lstStyle/>
          <a:p>
            <a:pPr marL="0" indent="0">
              <a:buNone/>
            </a:pPr>
            <a:r>
              <a:rPr lang="en-US" dirty="0"/>
              <a:t>Initialization of Google Gemini Flash API</a:t>
            </a:r>
            <a:endParaRPr lang="en-US" dirty="0"/>
          </a:p>
          <a:p>
            <a:pPr marL="0" indent="0">
              <a:buNone/>
            </a:pPr>
            <a:r>
              <a:rPr lang="en-US" dirty="0"/>
              <a:t>To enable AI functionality, secure API configuration is required.</a:t>
            </a:r>
            <a:endParaRPr lang="en-US" dirty="0"/>
          </a:p>
          <a:p>
            <a:pPr marL="0" indent="0">
              <a:buNone/>
            </a:pPr>
            <a:r>
              <a:rPr lang="en-US" dirty="0"/>
              <a:t>Steps Involved:</a:t>
            </a:r>
            <a:endParaRPr lang="en-US" dirty="0"/>
          </a:p>
          <a:p>
            <a:pPr>
              <a:buFont typeface="Arial" panose="020B0604020202020204" pitchFamily="34" charset="0"/>
              <a:buChar char="•"/>
            </a:pPr>
            <a:r>
              <a:rPr lang="en-US" dirty="0"/>
              <a:t>Generate API Key from Google AI Studio</a:t>
            </a:r>
            <a:endParaRPr lang="en-US" dirty="0"/>
          </a:p>
          <a:p>
            <a:pPr>
              <a:buFont typeface="Arial" panose="020B0604020202020204" pitchFamily="34" charset="0"/>
              <a:buChar char="•"/>
            </a:pPr>
            <a:r>
              <a:rPr lang="en-US" dirty="0"/>
              <a:t>Store API Key securely in the application</a:t>
            </a:r>
            <a:endParaRPr lang="en-US" dirty="0"/>
          </a:p>
          <a:p>
            <a:pPr>
              <a:buFont typeface="Arial" panose="020B0604020202020204" pitchFamily="34" charset="0"/>
              <a:buChar char="•"/>
            </a:pPr>
            <a:r>
              <a:rPr lang="en-US" dirty="0"/>
              <a:t>Configure authentication in backend</a:t>
            </a:r>
            <a:endParaRPr lang="en-US" dirty="0"/>
          </a:p>
          <a:p>
            <a:pPr>
              <a:buFont typeface="Arial" panose="020B0604020202020204" pitchFamily="34" charset="0"/>
              <a:buChar char="•"/>
            </a:pPr>
            <a:r>
              <a:rPr lang="en-US" dirty="0"/>
              <a:t>Establish secure HTTPS connection</a:t>
            </a:r>
            <a:endParaRPr lang="en-US" dirty="0"/>
          </a:p>
          <a:p>
            <a:pPr>
              <a:buFont typeface="Arial" panose="020B0604020202020204" pitchFamily="34" charset="0"/>
              <a:buChar char="•"/>
            </a:pPr>
            <a:r>
              <a:rPr lang="en-US" dirty="0"/>
              <a:t>Validate request and response format</a:t>
            </a:r>
            <a:endParaRPr lang="en-US" dirty="0"/>
          </a:p>
          <a:p>
            <a:pPr marL="0" indent="0">
              <a:buNone/>
            </a:pPr>
            <a:r>
              <a:rPr lang="en-US" dirty="0"/>
              <a:t> Importance:</a:t>
            </a:r>
            <a:endParaRPr lang="en-US" dirty="0"/>
          </a:p>
          <a:p>
            <a:pPr>
              <a:buFont typeface="Arial" panose="020B0604020202020204" pitchFamily="34" charset="0"/>
              <a:buChar char="•"/>
            </a:pPr>
            <a:r>
              <a:rPr lang="en-US" dirty="0"/>
              <a:t>Ensures secure communication</a:t>
            </a:r>
            <a:endParaRPr lang="en-US" dirty="0"/>
          </a:p>
          <a:p>
            <a:pPr>
              <a:buFont typeface="Arial" panose="020B0604020202020204" pitchFamily="34" charset="0"/>
              <a:buChar char="•"/>
            </a:pPr>
            <a:r>
              <a:rPr lang="en-US" dirty="0"/>
              <a:t>Prevents unauthorized access</a:t>
            </a:r>
            <a:endParaRPr lang="en-US" dirty="0"/>
          </a:p>
          <a:p>
            <a:pPr>
              <a:buFont typeface="Arial" panose="020B0604020202020204" pitchFamily="34" charset="0"/>
              <a:buChar char="•"/>
            </a:pPr>
            <a:r>
              <a:rPr lang="en-US" dirty="0"/>
              <a:t>Enables real-time AI response generation</a:t>
            </a:r>
            <a:endParaRPr lang="en-US" dirty="0"/>
          </a:p>
          <a:p>
            <a:pPr>
              <a:buFont typeface="Arial" panose="020B0604020202020204" pitchFamily="34" charset="0"/>
              <a:buChar char="•"/>
            </a:pPr>
            <a:r>
              <a:rPr lang="en-US" dirty="0"/>
              <a:t>Maintains data privacy and integrity</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Interfacing with Gemini Flash Model</a:t>
            </a:r>
            <a:endParaRPr lang="en-IN" dirty="0"/>
          </a:p>
        </p:txBody>
      </p:sp>
      <p:sp>
        <p:nvSpPr>
          <p:cNvPr id="3" name="Content Placeholder 2"/>
          <p:cNvSpPr>
            <a:spLocks noGrp="1"/>
          </p:cNvSpPr>
          <p:nvPr>
            <p:ph idx="1"/>
          </p:nvPr>
        </p:nvSpPr>
        <p:spPr>
          <a:xfrm>
            <a:off x="677334" y="1501629"/>
            <a:ext cx="8596668" cy="4539733"/>
          </a:xfrm>
        </p:spPr>
        <p:txBody>
          <a:bodyPr>
            <a:normAutofit fontScale="85000" lnSpcReduction="20000"/>
          </a:bodyPr>
          <a:lstStyle/>
          <a:p>
            <a:pPr marL="0" indent="0">
              <a:buNone/>
            </a:pPr>
            <a:r>
              <a:rPr lang="en-IN" b="1" dirty="0"/>
              <a:t>Interaction with Pre-Trained AI Model</a:t>
            </a:r>
            <a:endParaRPr lang="en-IN" b="1" dirty="0"/>
          </a:p>
          <a:p>
            <a:pPr marL="0" indent="0">
              <a:buNone/>
            </a:pPr>
            <a:r>
              <a:rPr lang="en-IN" dirty="0" err="1"/>
              <a:t>AutoSage</a:t>
            </a:r>
            <a:r>
              <a:rPr lang="en-IN" dirty="0"/>
              <a:t> uses a pre-trained Gemini Flash model to process vehicle-related queries intelligently.</a:t>
            </a:r>
            <a:endParaRPr lang="en-IN" dirty="0"/>
          </a:p>
          <a:p>
            <a:pPr marL="0" indent="0">
              <a:buNone/>
            </a:pPr>
            <a:r>
              <a:rPr lang="en-IN" dirty="0"/>
              <a:t> </a:t>
            </a:r>
            <a:r>
              <a:rPr lang="en-IN" b="1" dirty="0"/>
              <a:t>Process:</a:t>
            </a:r>
            <a:endParaRPr lang="en-IN" b="1" dirty="0"/>
          </a:p>
          <a:p>
            <a:pPr>
              <a:buFont typeface="Arial" panose="020B0604020202020204" pitchFamily="34" charset="0"/>
              <a:buChar char="•"/>
            </a:pPr>
            <a:r>
              <a:rPr lang="en-IN" dirty="0"/>
              <a:t>Load the Gemini Flash model</a:t>
            </a:r>
            <a:endParaRPr lang="en-IN" dirty="0"/>
          </a:p>
          <a:p>
            <a:pPr>
              <a:buFont typeface="Arial" panose="020B0604020202020204" pitchFamily="34" charset="0"/>
              <a:buChar char="•"/>
            </a:pPr>
            <a:r>
              <a:rPr lang="en-IN" dirty="0"/>
              <a:t>Accept user query as input prompt</a:t>
            </a:r>
            <a:endParaRPr lang="en-IN" dirty="0"/>
          </a:p>
          <a:p>
            <a:pPr>
              <a:buFont typeface="Arial" panose="020B0604020202020204" pitchFamily="34" charset="0"/>
              <a:buChar char="•"/>
            </a:pPr>
            <a:r>
              <a:rPr lang="en-IN" dirty="0"/>
              <a:t>Format structured prompt for better accuracy</a:t>
            </a:r>
            <a:endParaRPr lang="en-IN" dirty="0"/>
          </a:p>
          <a:p>
            <a:pPr>
              <a:buFont typeface="Arial" panose="020B0604020202020204" pitchFamily="34" charset="0"/>
              <a:buChar char="•"/>
            </a:pPr>
            <a:r>
              <a:rPr lang="en-IN" dirty="0"/>
              <a:t>Send API request to AI model</a:t>
            </a:r>
            <a:endParaRPr lang="en-IN" dirty="0"/>
          </a:p>
          <a:p>
            <a:pPr>
              <a:buFont typeface="Arial" panose="020B0604020202020204" pitchFamily="34" charset="0"/>
              <a:buChar char="•"/>
            </a:pPr>
            <a:r>
              <a:rPr lang="en-IN" dirty="0"/>
              <a:t>Receive generated response</a:t>
            </a:r>
            <a:endParaRPr lang="en-IN" dirty="0"/>
          </a:p>
          <a:p>
            <a:pPr>
              <a:buFont typeface="Arial" panose="020B0604020202020204" pitchFamily="34" charset="0"/>
              <a:buChar char="•"/>
            </a:pPr>
            <a:r>
              <a:rPr lang="en-IN" dirty="0"/>
              <a:t>Filter and format response for display</a:t>
            </a:r>
            <a:endParaRPr lang="en-IN" dirty="0"/>
          </a:p>
          <a:p>
            <a:pPr marL="0" indent="0">
              <a:buNone/>
            </a:pPr>
            <a:r>
              <a:rPr lang="en-IN" b="1" dirty="0"/>
              <a:t> Capabilities of the Model:</a:t>
            </a:r>
            <a:endParaRPr lang="en-IN" b="1" dirty="0"/>
          </a:p>
          <a:p>
            <a:pPr>
              <a:buFont typeface="Arial" panose="020B0604020202020204" pitchFamily="34" charset="0"/>
              <a:buChar char="•"/>
            </a:pPr>
            <a:r>
              <a:rPr lang="en-IN" dirty="0"/>
              <a:t>Natural language understanding</a:t>
            </a:r>
            <a:endParaRPr lang="en-IN" dirty="0"/>
          </a:p>
          <a:p>
            <a:pPr>
              <a:buFont typeface="Arial" panose="020B0604020202020204" pitchFamily="34" charset="0"/>
              <a:buChar char="•"/>
            </a:pPr>
            <a:r>
              <a:rPr lang="en-IN" dirty="0"/>
              <a:t>Vehicle comparison analysis</a:t>
            </a:r>
            <a:endParaRPr lang="en-IN" dirty="0"/>
          </a:p>
          <a:p>
            <a:pPr>
              <a:buFont typeface="Arial" panose="020B0604020202020204" pitchFamily="34" charset="0"/>
              <a:buChar char="•"/>
            </a:pPr>
            <a:r>
              <a:rPr lang="en-IN" dirty="0"/>
              <a:t>Budget-based recommendations</a:t>
            </a:r>
            <a:endParaRPr lang="en-IN" dirty="0"/>
          </a:p>
          <a:p>
            <a:pPr>
              <a:buFont typeface="Arial" panose="020B0604020202020204" pitchFamily="34" charset="0"/>
              <a:buChar char="•"/>
            </a:pPr>
            <a:r>
              <a:rPr lang="en-IN" dirty="0"/>
              <a:t>Maintenance and eco-vehicle suggestions</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1-Buying a New Motorcycle</a:t>
            </a:r>
            <a:endParaRPr lang="en-IN" dirty="0"/>
          </a:p>
        </p:txBody>
      </p:sp>
      <p:sp>
        <p:nvSpPr>
          <p:cNvPr id="3" name="Content Placeholder 2"/>
          <p:cNvSpPr>
            <a:spLocks noGrp="1"/>
          </p:cNvSpPr>
          <p:nvPr>
            <p:ph idx="1"/>
          </p:nvPr>
        </p:nvSpPr>
        <p:spPr>
          <a:xfrm>
            <a:off x="677334" y="1510019"/>
            <a:ext cx="8596668" cy="4531344"/>
          </a:xfrm>
        </p:spPr>
        <p:txBody>
          <a:bodyPr/>
          <a:lstStyle/>
          <a:p>
            <a:pPr>
              <a:buFont typeface="Wingdings" panose="05000000000000000000" pitchFamily="2" charset="2"/>
              <a:buChar char="q"/>
            </a:pPr>
            <a:r>
              <a:rPr lang="en-US" dirty="0"/>
              <a:t>User compares specs and price</a:t>
            </a:r>
            <a:endParaRPr lang="en-US" dirty="0"/>
          </a:p>
          <a:p>
            <a:pPr>
              <a:buFont typeface="Wingdings" panose="05000000000000000000" pitchFamily="2" charset="2"/>
              <a:buChar char="q"/>
            </a:pPr>
            <a:r>
              <a:rPr lang="en-US" dirty="0"/>
              <a:t>Gets detailed feature explanation</a:t>
            </a:r>
            <a:endParaRPr lang="en-US" dirty="0"/>
          </a:p>
          <a:p>
            <a:pPr>
              <a:buFont typeface="Wingdings" panose="05000000000000000000" pitchFamily="2" charset="2"/>
              <a:buChar char="q"/>
            </a:pPr>
            <a:r>
              <a:rPr lang="en-US" dirty="0"/>
              <a:t>Receives real-time updates</a:t>
            </a:r>
            <a:endParaRPr lang="en-US" dirty="0"/>
          </a:p>
          <a:p>
            <a:pPr>
              <a:buFont typeface="Wingdings" panose="05000000000000000000" pitchFamily="2" charset="2"/>
              <a:buChar char="q"/>
            </a:pPr>
            <a:r>
              <a:rPr lang="en-US" dirty="0"/>
              <a:t>Makes informed decision</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2-Vehicle Maintenance Tips</a:t>
            </a:r>
            <a:endParaRPr lang="en-IN" dirty="0"/>
          </a:p>
        </p:txBody>
      </p:sp>
      <p:sp>
        <p:nvSpPr>
          <p:cNvPr id="3" name="Content Placeholder 2"/>
          <p:cNvSpPr>
            <a:spLocks noGrp="1"/>
          </p:cNvSpPr>
          <p:nvPr>
            <p:ph idx="1"/>
          </p:nvPr>
        </p:nvSpPr>
        <p:spPr>
          <a:xfrm>
            <a:off x="677334" y="1560353"/>
            <a:ext cx="8596668" cy="4481010"/>
          </a:xfrm>
        </p:spPr>
        <p:txBody>
          <a:bodyPr/>
          <a:lstStyle/>
          <a:p>
            <a:pPr>
              <a:buFont typeface="Wingdings" panose="05000000000000000000" pitchFamily="2" charset="2"/>
              <a:buChar char="q"/>
            </a:pPr>
            <a:r>
              <a:rPr lang="en-US" dirty="0"/>
              <a:t>Provides seasonal maintenance alerts</a:t>
            </a:r>
            <a:endParaRPr lang="en-US" dirty="0"/>
          </a:p>
          <a:p>
            <a:pPr>
              <a:buFont typeface="Wingdings" panose="05000000000000000000" pitchFamily="2" charset="2"/>
              <a:buChar char="q"/>
            </a:pPr>
            <a:r>
              <a:rPr lang="en-US" dirty="0"/>
              <a:t>Suggests tire pressure checks</a:t>
            </a:r>
            <a:endParaRPr lang="en-US" dirty="0"/>
          </a:p>
          <a:p>
            <a:pPr>
              <a:buFont typeface="Wingdings" panose="05000000000000000000" pitchFamily="2" charset="2"/>
              <a:buChar char="q"/>
            </a:pPr>
            <a:r>
              <a:rPr lang="en-US" dirty="0"/>
              <a:t>Battery health monitoring</a:t>
            </a:r>
            <a:endParaRPr lang="en-US" dirty="0"/>
          </a:p>
          <a:p>
            <a:pPr>
              <a:buFont typeface="Wingdings" panose="05000000000000000000" pitchFamily="2" charset="2"/>
              <a:buChar char="q"/>
            </a:pPr>
            <a:r>
              <a:rPr lang="en-US" dirty="0"/>
              <a:t>Engine care tips</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3- Eco-Friendly Vehicles</a:t>
            </a:r>
            <a:endParaRPr lang="en-IN" dirty="0"/>
          </a:p>
        </p:txBody>
      </p:sp>
      <p:sp>
        <p:nvSpPr>
          <p:cNvPr id="3" name="Content Placeholder 2"/>
          <p:cNvSpPr>
            <a:spLocks noGrp="1"/>
          </p:cNvSpPr>
          <p:nvPr>
            <p:ph idx="1"/>
          </p:nvPr>
        </p:nvSpPr>
        <p:spPr>
          <a:xfrm>
            <a:off x="677334" y="1543575"/>
            <a:ext cx="8596668" cy="4497788"/>
          </a:xfrm>
        </p:spPr>
        <p:txBody>
          <a:bodyPr/>
          <a:lstStyle/>
          <a:p>
            <a:pPr>
              <a:buFont typeface="Wingdings" panose="05000000000000000000" pitchFamily="2" charset="2"/>
              <a:buChar char="q"/>
            </a:pPr>
            <a:r>
              <a:rPr lang="en-US" dirty="0"/>
              <a:t>Suggests electric vehicles</a:t>
            </a:r>
            <a:endParaRPr lang="en-US" dirty="0"/>
          </a:p>
          <a:p>
            <a:pPr>
              <a:buFont typeface="Wingdings" panose="05000000000000000000" pitchFamily="2" charset="2"/>
              <a:buChar char="q"/>
            </a:pPr>
            <a:r>
              <a:rPr lang="en-US" dirty="0"/>
              <a:t>Compares hybrid cars</a:t>
            </a:r>
            <a:endParaRPr lang="en-US" dirty="0"/>
          </a:p>
          <a:p>
            <a:pPr>
              <a:buFont typeface="Wingdings" panose="05000000000000000000" pitchFamily="2" charset="2"/>
              <a:buChar char="q"/>
            </a:pPr>
            <a:r>
              <a:rPr lang="en-US" dirty="0"/>
              <a:t>Provides efficiency details</a:t>
            </a:r>
            <a:endParaRPr lang="en-US" dirty="0"/>
          </a:p>
          <a:p>
            <a:pPr>
              <a:buFont typeface="Wingdings" panose="05000000000000000000" pitchFamily="2" charset="2"/>
              <a:buChar char="q"/>
            </a:pPr>
            <a:r>
              <a:rPr lang="en-US" dirty="0"/>
              <a:t>Gives environmental impact analysis</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endParaRPr lang="en-IN" dirty="0"/>
          </a:p>
        </p:txBody>
      </p:sp>
      <p:sp>
        <p:nvSpPr>
          <p:cNvPr id="3" name="Content Placeholder 2"/>
          <p:cNvSpPr>
            <a:spLocks noGrp="1"/>
          </p:cNvSpPr>
          <p:nvPr>
            <p:ph idx="1"/>
          </p:nvPr>
        </p:nvSpPr>
        <p:spPr>
          <a:xfrm>
            <a:off x="677334" y="1518407"/>
            <a:ext cx="8596668" cy="4522955"/>
          </a:xfrm>
        </p:spPr>
        <p:txBody>
          <a:bodyPr/>
          <a:lstStyle/>
          <a:p>
            <a:pPr>
              <a:buFont typeface="Wingdings" panose="05000000000000000000" pitchFamily="2" charset="2"/>
              <a:buChar char="q"/>
            </a:pPr>
            <a:r>
              <a:rPr lang="en-US" dirty="0"/>
              <a:t>Saves time</a:t>
            </a:r>
            <a:endParaRPr lang="en-US" dirty="0"/>
          </a:p>
          <a:p>
            <a:pPr>
              <a:buFont typeface="Wingdings" panose="05000000000000000000" pitchFamily="2" charset="2"/>
              <a:buChar char="q"/>
            </a:pPr>
            <a:r>
              <a:rPr lang="en-US" dirty="0"/>
              <a:t>Provides updated information</a:t>
            </a:r>
            <a:endParaRPr lang="en-US" dirty="0"/>
          </a:p>
          <a:p>
            <a:pPr>
              <a:buFont typeface="Wingdings" panose="05000000000000000000" pitchFamily="2" charset="2"/>
              <a:buChar char="q"/>
            </a:pPr>
            <a:r>
              <a:rPr lang="en-US" dirty="0"/>
              <a:t>Easy comparison</a:t>
            </a:r>
            <a:endParaRPr lang="en-US" dirty="0"/>
          </a:p>
          <a:p>
            <a:pPr>
              <a:buFont typeface="Wingdings" panose="05000000000000000000" pitchFamily="2" charset="2"/>
              <a:buChar char="q"/>
            </a:pPr>
            <a:r>
              <a:rPr lang="en-US" dirty="0"/>
              <a:t>Reduces confusion</a:t>
            </a:r>
            <a:endParaRPr lang="en-US" dirty="0"/>
          </a:p>
          <a:p>
            <a:pPr>
              <a:buFont typeface="Wingdings" panose="05000000000000000000" pitchFamily="2" charset="2"/>
              <a:buChar char="q"/>
            </a:pPr>
            <a:r>
              <a:rPr lang="en-US" dirty="0"/>
              <a:t>Supports eco-friendly choices</a:t>
            </a:r>
            <a:endParaRPr lang="en-US" dirty="0"/>
          </a:p>
          <a:p>
            <a:pPr>
              <a:buFont typeface="Wingdings" panose="05000000000000000000" pitchFamily="2" charset="2"/>
              <a:buChar char="q"/>
            </a:pPr>
            <a:r>
              <a:rPr lang="en-US" dirty="0"/>
              <a:t>Scalable system</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a:t>
            </a:r>
            <a:endParaRPr lang="en-IN" dirty="0"/>
          </a:p>
        </p:txBody>
      </p:sp>
      <p:sp>
        <p:nvSpPr>
          <p:cNvPr id="3" name="Content Placeholder 2"/>
          <p:cNvSpPr>
            <a:spLocks noGrp="1"/>
          </p:cNvSpPr>
          <p:nvPr>
            <p:ph idx="1"/>
          </p:nvPr>
        </p:nvSpPr>
        <p:spPr>
          <a:xfrm>
            <a:off x="677334" y="1375795"/>
            <a:ext cx="8596668" cy="4665568"/>
          </a:xfrm>
        </p:spPr>
        <p:txBody>
          <a:bodyPr/>
          <a:lstStyle/>
          <a:p>
            <a:pPr>
              <a:buFont typeface="Wingdings" panose="05000000000000000000" pitchFamily="2" charset="2"/>
              <a:buChar char="q"/>
            </a:pPr>
            <a:r>
              <a:rPr lang="en-US" dirty="0"/>
              <a:t>Requires internet connection</a:t>
            </a:r>
            <a:endParaRPr lang="en-US" dirty="0"/>
          </a:p>
          <a:p>
            <a:pPr>
              <a:buFont typeface="Wingdings" panose="05000000000000000000" pitchFamily="2" charset="2"/>
              <a:buChar char="q"/>
            </a:pPr>
            <a:r>
              <a:rPr lang="en-US" dirty="0"/>
              <a:t>Depends on API availability</a:t>
            </a:r>
            <a:endParaRPr lang="en-US" dirty="0"/>
          </a:p>
          <a:p>
            <a:pPr>
              <a:buFont typeface="Wingdings" panose="05000000000000000000" pitchFamily="2" charset="2"/>
              <a:buChar char="q"/>
            </a:pPr>
            <a:r>
              <a:rPr lang="en-US" dirty="0"/>
              <a:t>API usage cost may apply</a:t>
            </a:r>
            <a:endParaRPr lang="en-US" dirty="0"/>
          </a:p>
          <a:p>
            <a:pPr>
              <a:buFont typeface="Wingdings" panose="05000000000000000000" pitchFamily="2" charset="2"/>
              <a:buChar char="q"/>
            </a:pPr>
            <a:r>
              <a:rPr lang="en-US" dirty="0"/>
              <a:t>Accuracy depends on model updates</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 </a:t>
            </a:r>
            <a:endParaRPr lang="en-IN" dirty="0"/>
          </a:p>
        </p:txBody>
      </p:sp>
      <p:sp>
        <p:nvSpPr>
          <p:cNvPr id="3" name="Content Placeholder 2"/>
          <p:cNvSpPr>
            <a:spLocks noGrp="1"/>
          </p:cNvSpPr>
          <p:nvPr>
            <p:ph idx="1"/>
          </p:nvPr>
        </p:nvSpPr>
        <p:spPr>
          <a:xfrm>
            <a:off x="677334" y="1367405"/>
            <a:ext cx="8596668" cy="4673957"/>
          </a:xfrm>
        </p:spPr>
        <p:txBody>
          <a:bodyPr/>
          <a:lstStyle/>
          <a:p>
            <a:pPr marL="0" indent="0">
              <a:lnSpc>
                <a:spcPct val="150000"/>
              </a:lnSpc>
              <a:buNone/>
            </a:pPr>
            <a:r>
              <a:rPr lang="en-US" dirty="0"/>
              <a:t>The </a:t>
            </a:r>
            <a:r>
              <a:rPr lang="en-US" dirty="0" err="1"/>
              <a:t>AutoSage</a:t>
            </a:r>
            <a:r>
              <a:rPr lang="en-US" dirty="0"/>
              <a:t> application can be further enhanced by integrating advanced features such as voice-based interaction, multilingual support, and personalized user accounts for customized recommendations. In the future, the system can be connected with real-time automobile databases and dealership platforms to provide live pricing, availability, and booking options. A mobile application version can also be developed to improve accessibility. Additionally, machine learning models can be trained using user behavior data to provide more accurate and personalized suggestions. Integration with IoT-based vehicle diagnostics could enable real-time vehicle health monitoring and predictive maintenance alerts, making </a:t>
            </a:r>
            <a:r>
              <a:rPr lang="en-US" dirty="0" err="1"/>
              <a:t>AutoSage</a:t>
            </a:r>
            <a:r>
              <a:rPr lang="en-US" dirty="0"/>
              <a:t> a complete smart automotive assistant.</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endParaRPr lang="en-IN" dirty="0"/>
          </a:p>
        </p:txBody>
      </p:sp>
      <p:sp>
        <p:nvSpPr>
          <p:cNvPr id="3" name="Content Placeholder 2"/>
          <p:cNvSpPr>
            <a:spLocks noGrp="1"/>
          </p:cNvSpPr>
          <p:nvPr>
            <p:ph idx="1"/>
          </p:nvPr>
        </p:nvSpPr>
        <p:spPr>
          <a:xfrm>
            <a:off x="677334" y="1459685"/>
            <a:ext cx="8596668" cy="4581678"/>
          </a:xfrm>
        </p:spPr>
        <p:txBody>
          <a:bodyPr/>
          <a:lstStyle/>
          <a:p>
            <a:pPr>
              <a:buFont typeface="Courier New" panose="02070309020205020404" pitchFamily="49" charset="0"/>
              <a:buChar char="o"/>
            </a:pPr>
            <a:r>
              <a:rPr lang="en-US" dirty="0"/>
              <a:t>Successfully integrated Gemini Flash API with the application</a:t>
            </a:r>
            <a:endParaRPr lang="en-US" dirty="0"/>
          </a:p>
          <a:p>
            <a:pPr>
              <a:buFont typeface="Courier New" panose="02070309020205020404" pitchFamily="49" charset="0"/>
              <a:buChar char="o"/>
            </a:pPr>
            <a:r>
              <a:rPr lang="en-US" dirty="0"/>
              <a:t>AI model generated accurate and relevant vehicle information</a:t>
            </a:r>
            <a:endParaRPr lang="en-US" dirty="0"/>
          </a:p>
          <a:p>
            <a:pPr>
              <a:buFont typeface="Courier New" panose="02070309020205020404" pitchFamily="49" charset="0"/>
              <a:buChar char="o"/>
            </a:pPr>
            <a:r>
              <a:rPr lang="en-US" dirty="0"/>
              <a:t>Implemented vehicle comparison based on user requirements</a:t>
            </a:r>
            <a:endParaRPr lang="en-US" dirty="0"/>
          </a:p>
          <a:p>
            <a:pPr>
              <a:buFont typeface="Courier New" panose="02070309020205020404" pitchFamily="49" charset="0"/>
              <a:buChar char="o"/>
            </a:pPr>
            <a:r>
              <a:rPr lang="en-US" dirty="0"/>
              <a:t>Provided maintenance tips and eco-friendly recommendations</a:t>
            </a:r>
            <a:endParaRPr lang="en-US" dirty="0"/>
          </a:p>
          <a:p>
            <a:pPr>
              <a:buFont typeface="Courier New" panose="02070309020205020404" pitchFamily="49" charset="0"/>
              <a:buChar char="o"/>
            </a:pPr>
            <a:r>
              <a:rPr lang="en-US" dirty="0"/>
              <a:t>Achieved real-time response generation</a:t>
            </a:r>
            <a:endParaRPr lang="en-US" dirty="0"/>
          </a:p>
          <a:p>
            <a:pPr>
              <a:buFont typeface="Courier New" panose="02070309020205020404" pitchFamily="49" charset="0"/>
              <a:buChar char="o"/>
            </a:pPr>
            <a:r>
              <a:rPr lang="en-US" dirty="0"/>
              <a:t>Ensured smooth communication between frontend and backend</a:t>
            </a:r>
            <a:endParaRPr lang="en-US" dirty="0"/>
          </a:p>
          <a:p>
            <a:pPr>
              <a:buFont typeface="Courier New" panose="02070309020205020404" pitchFamily="49" charset="0"/>
              <a:buChar char="o"/>
            </a:pPr>
            <a:r>
              <a:rPr lang="en-US" dirty="0"/>
              <a:t>Developed a user-friendly and interactive interface</a:t>
            </a:r>
            <a:endParaRPr lang="en-US" dirty="0"/>
          </a:p>
          <a:p>
            <a:pPr>
              <a:buFont typeface="Courier New" panose="02070309020205020404" pitchFamily="49" charset="0"/>
              <a:buChar char="o"/>
            </a:pPr>
            <a:r>
              <a:rPr lang="en-US" dirty="0"/>
              <a:t>System met all defined project objectives</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Content Placeholder 2"/>
          <p:cNvSpPr>
            <a:spLocks noGrp="1"/>
          </p:cNvSpPr>
          <p:nvPr>
            <p:ph idx="1"/>
          </p:nvPr>
        </p:nvSpPr>
        <p:spPr>
          <a:xfrm>
            <a:off x="677334" y="1518407"/>
            <a:ext cx="8596668" cy="4522955"/>
          </a:xfrm>
        </p:spPr>
        <p:txBody>
          <a:bodyPr/>
          <a:lstStyle/>
          <a:p>
            <a:pPr marL="0" indent="0">
              <a:buNone/>
            </a:pPr>
            <a:r>
              <a:rPr lang="en-US" dirty="0"/>
              <a:t>The </a:t>
            </a:r>
            <a:r>
              <a:rPr lang="en-US" dirty="0" err="1"/>
              <a:t>AutoSage</a:t>
            </a:r>
            <a:r>
              <a:rPr lang="en-US" dirty="0"/>
              <a:t> App using Gemini Flash is an intelligent AI-based vehicle assistance system designed to simplify vehicle selection and maintenance guidance.</a:t>
            </a:r>
            <a:endParaRPr lang="en-US" dirty="0"/>
          </a:p>
          <a:p>
            <a:pPr marL="0" indent="0">
              <a:buNone/>
            </a:pPr>
            <a:r>
              <a:rPr lang="en-US" dirty="0"/>
              <a:t>The project successfully demonstrates:</a:t>
            </a:r>
            <a:endParaRPr lang="en-US" dirty="0"/>
          </a:p>
          <a:p>
            <a:pPr>
              <a:buFont typeface="Arial" panose="020B0604020202020204" pitchFamily="34" charset="0"/>
              <a:buChar char="•"/>
            </a:pPr>
            <a:r>
              <a:rPr lang="en-US" dirty="0"/>
              <a:t>Practical implementation of AI in real-world applications</a:t>
            </a:r>
            <a:endParaRPr lang="en-US" dirty="0"/>
          </a:p>
          <a:p>
            <a:pPr>
              <a:buFont typeface="Arial" panose="020B0604020202020204" pitchFamily="34" charset="0"/>
              <a:buChar char="•"/>
            </a:pPr>
            <a:r>
              <a:rPr lang="en-US" dirty="0"/>
              <a:t>Effective integration of Gemini Flash API</a:t>
            </a:r>
            <a:endParaRPr lang="en-US" dirty="0"/>
          </a:p>
          <a:p>
            <a:pPr>
              <a:buFont typeface="Arial" panose="020B0604020202020204" pitchFamily="34" charset="0"/>
              <a:buChar char="•"/>
            </a:pPr>
            <a:r>
              <a:rPr lang="en-US" dirty="0"/>
              <a:t>Smart vehicle comparison and recommendation system</a:t>
            </a:r>
            <a:endParaRPr lang="en-US" dirty="0"/>
          </a:p>
          <a:p>
            <a:pPr>
              <a:buFont typeface="Arial" panose="020B0604020202020204" pitchFamily="34" charset="0"/>
              <a:buChar char="•"/>
            </a:pPr>
            <a:r>
              <a:rPr lang="en-US" dirty="0"/>
              <a:t>Improved user decision-making process</a:t>
            </a:r>
            <a:endParaRPr lang="en-US" dirty="0"/>
          </a:p>
          <a:p>
            <a:pPr marL="0" indent="0">
              <a:buNone/>
            </a:pPr>
            <a:r>
              <a:rPr lang="en-US" dirty="0" err="1"/>
              <a:t>AutoSage</a:t>
            </a:r>
            <a:r>
              <a:rPr lang="en-US" dirty="0"/>
              <a:t> enhances user experience by providing accurate, fast, and reliable automotive information, proving the potential of AI-driven solutions in the automobile domain.</a:t>
            </a:r>
            <a:endParaRPr lang="en-IN"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6490</Words>
  <Application>WPS Presentation</Application>
  <PresentationFormat>Widescreen</PresentationFormat>
  <Paragraphs>185</Paragraphs>
  <Slides>19</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Wingdings 3</vt:lpstr>
      <vt:lpstr>Arial</vt:lpstr>
      <vt:lpstr>Courier New</vt:lpstr>
      <vt:lpstr>Trebuchet MS</vt:lpstr>
      <vt:lpstr>Microsoft YaHei</vt:lpstr>
      <vt:lpstr>Arial Unicode MS</vt:lpstr>
      <vt:lpstr>Calibri</vt:lpstr>
      <vt:lpstr>Facet</vt:lpstr>
      <vt:lpstr>AutoSage App Using Gemini Flash </vt:lpstr>
      <vt:lpstr>Introduction</vt:lpstr>
      <vt:lpstr>Problem Statement</vt:lpstr>
      <vt:lpstr>Proposed Solution</vt:lpstr>
      <vt:lpstr>Objectives</vt:lpstr>
      <vt:lpstr>Technologies Used</vt:lpstr>
      <vt:lpstr>System Architecture</vt:lpstr>
      <vt:lpstr>Project Workflow</vt:lpstr>
      <vt:lpstr>Required Specification</vt:lpstr>
      <vt:lpstr>API Initialization &amp; Configuration</vt:lpstr>
      <vt:lpstr>Interfacing with Gemini Flash Model</vt:lpstr>
      <vt:lpstr>Scenario 1-Buying a New Motorcycle</vt:lpstr>
      <vt:lpstr>Scenario 2-Vehicle Maintenance Tips</vt:lpstr>
      <vt:lpstr>Scenario 3- Eco-Friendly Vehicles</vt:lpstr>
      <vt:lpstr>Advantages</vt:lpstr>
      <vt:lpstr>Limitations</vt:lpstr>
      <vt:lpstr>Future Scope </vt:lpstr>
      <vt:lpstr>Results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Mallela Chandini</dc:creator>
  <cp:lastModifiedBy>Chandu</cp:lastModifiedBy>
  <cp:revision>4</cp:revision>
  <dcterms:created xsi:type="dcterms:W3CDTF">2026-02-18T15:46:00Z</dcterms:created>
  <dcterms:modified xsi:type="dcterms:W3CDTF">2026-02-19T07:27:50Z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05CDB2BB6F1B4A83A33C4852D16498A1_13</vt:lpwstr>
  </property>
  <property fmtid="{D5CDD505-2E9C-101B-9397-08002B2CF9AE}" pid="3" name="KSOProductBuildVer">
    <vt:lpwstr>1033-12.2.0.23196</vt:lpwstr>
  </property>
</Properties>
</file>